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3" r:id="rId6"/>
    <p:sldId id="260" r:id="rId7"/>
    <p:sldId id="262" r:id="rId8"/>
    <p:sldId id="264" r:id="rId9"/>
    <p:sldId id="261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-504" y="-4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0731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5900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nsorflow.org/-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85800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AI-Driven Monitoring and Predictive Maintenance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594360" y="1298448"/>
            <a:ext cx="10332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D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 Smart Home Media Server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21792" y="18745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</a:rPr>
              <a:t>Ryan Arnzen  •  Prasiddha Neupane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21792" y="2331720"/>
            <a:ext cx="484632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26334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</a:rPr>
              <a:t>Most interesting finding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21792" y="3035808"/>
            <a:ext cx="512064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r>
              <a:rPr lang="en-US" sz="1700" dirty="0">
                <a:solidFill>
                  <a:srgbClr val="F8FAFC"/>
                </a:solidFill>
              </a:rPr>
              <a:t>A LSTM model with a 30-minute window had the lowest test error, this shows that our recent server scrapes held enough short-term data to forecast the next 10-minute CPU average better than a longer 60-minute window or using a flattened MLP model baseline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85800" y="46177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34D399"/>
                </a:solidFill>
              </a:rPr>
              <a:t>0.0316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85800" y="50566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</a:rPr>
              <a:t>Best Test RMSE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800" y="53766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30-minute LSTM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743200" y="46177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22D3EE"/>
                </a:solidFill>
              </a:rPr>
              <a:t>10,081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743200" y="50566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</a:rPr>
              <a:t>Rows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743200" y="53766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one week at 1-minute steps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800600" y="46177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A78BFA"/>
                </a:solidFill>
              </a:rPr>
              <a:t>0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800600" y="50566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</a:rPr>
              <a:t>Missing values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800600" y="53766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complete telemetry export with preprocessing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</a:rPr>
              <a:t>CSC 426 Deep Learning  •  Smart Media Server ML Monitoring  •  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and Motivation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</a:rPr>
              <a:t>Move from reactive monitoring to short predictive maintenance.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11155680" cy="0"/>
          </a:xfrm>
          <a:prstGeom prst="line">
            <a:avLst/>
          </a:prstGeom>
          <a:noFill/>
          <a:ln w="1397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417320"/>
            <a:ext cx="521208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8FAFC"/>
                </a:solidFill>
              </a:rPr>
              <a:t>Smart home media servers run multiple services continuously: media streaming, cloud storage, reverse proxy, metrics, and container workloads. Waiting until CPU or memory is already high makes alerts reactive instead of predictive.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2788920"/>
            <a:ext cx="5029200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700" dirty="0">
                <a:solidFill>
                  <a:srgbClr val="F8FAFC"/>
                </a:solidFill>
              </a:rPr>
              <a:t>Goal: predict short-term CPU load from recent server and container telemetry.</a:t>
            </a:r>
            <a:endParaRPr lang="en-US" sz="1700" dirty="0"/>
          </a:p>
          <a:p>
            <a:r>
              <a:rPr lang="en-US" sz="1700" dirty="0">
                <a:solidFill>
                  <a:srgbClr val="F8FAFC"/>
                </a:solidFill>
              </a:rPr>
              <a:t>Why CPU: it reflects system stress during transcoding, background services, and container activity.</a:t>
            </a:r>
            <a:endParaRPr lang="en-US" sz="1700" dirty="0"/>
          </a:p>
          <a:p>
            <a:r>
              <a:rPr lang="en-US" sz="1700" dirty="0">
                <a:solidFill>
                  <a:srgbClr val="F8FAFC"/>
                </a:solidFill>
              </a:rPr>
              <a:t>Value: early warning, anomaly detection, and automated maintenance triggers.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</a:rPr>
              <a:t>CSC 426 Deep Learning  •  Smart Media Server ML Monitoring  •  2</a:t>
            </a:r>
            <a:endParaRPr lang="en-US" sz="850" dirty="0"/>
          </a:p>
        </p:txBody>
      </p:sp>
      <p:pic>
        <p:nvPicPr>
          <p:cNvPr id="11" name="Picture 10" descr="A graph showing a line of orange and blue lines">
            <a:extLst>
              <a:ext uri="{FF2B5EF4-FFF2-40B4-BE49-F238E27FC236}">
                <a16:creationId xmlns:a16="http://schemas.microsoft.com/office/drawing/2014/main" id="{B5774FCC-808C-7E87-1D84-450EF331F1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1024127"/>
            <a:ext cx="6464796" cy="277062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End-to-End Approach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862203"/>
            <a:ext cx="11155680" cy="0"/>
          </a:xfrm>
          <a:prstGeom prst="line">
            <a:avLst/>
          </a:prstGeom>
          <a:noFill/>
          <a:ln w="1397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47088" y="2514600"/>
            <a:ext cx="594360" cy="0"/>
          </a:xfrm>
          <a:prstGeom prst="line">
            <a:avLst/>
          </a:prstGeom>
          <a:noFill/>
          <a:ln w="1524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794760" y="2514600"/>
            <a:ext cx="594360" cy="0"/>
          </a:xfrm>
          <a:prstGeom prst="line">
            <a:avLst/>
          </a:prstGeom>
          <a:noFill/>
          <a:ln w="1524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715000" y="2514600"/>
            <a:ext cx="594360" cy="0"/>
          </a:xfrm>
          <a:prstGeom prst="line">
            <a:avLst/>
          </a:prstGeom>
          <a:noFill/>
          <a:ln w="1524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635240" y="2514600"/>
            <a:ext cx="594360" cy="0"/>
          </a:xfrm>
          <a:prstGeom prst="line">
            <a:avLst/>
          </a:prstGeom>
          <a:noFill/>
          <a:ln w="1524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555480" y="2514600"/>
            <a:ext cx="594360" cy="0"/>
          </a:xfrm>
          <a:prstGeom prst="line">
            <a:avLst/>
          </a:prstGeom>
          <a:noFill/>
          <a:ln w="1524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58368" y="2029968"/>
            <a:ext cx="1234440" cy="960120"/>
          </a:xfrm>
          <a:prstGeom prst="roundRect">
            <a:avLst>
              <a:gd name="adj" fmla="val 7619"/>
            </a:avLst>
          </a:prstGeom>
          <a:solidFill>
            <a:srgbClr val="111827">
              <a:alpha val="92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2376" y="21305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</a:rPr>
              <a:t>Prometheus export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22376" y="24963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</a:rPr>
              <a:t>HTTP API, CSV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06040" y="2029968"/>
            <a:ext cx="1234440" cy="960120"/>
          </a:xfrm>
          <a:prstGeom prst="roundRect">
            <a:avLst>
              <a:gd name="adj" fmla="val 7619"/>
            </a:avLst>
          </a:prstGeom>
          <a:solidFill>
            <a:srgbClr val="111827">
              <a:alpha val="92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70048" y="21305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</a:rPr>
              <a:t>Dataset analysis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70048" y="24963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</a:rPr>
              <a:t>stats + plots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26280" y="2029968"/>
            <a:ext cx="1234440" cy="960120"/>
          </a:xfrm>
          <a:prstGeom prst="roundRect">
            <a:avLst>
              <a:gd name="adj" fmla="val 7619"/>
            </a:avLst>
          </a:prstGeom>
          <a:solidFill>
            <a:srgbClr val="111827">
              <a:alpha val="92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90288" y="21305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</a:rPr>
              <a:t>Preprocess + scale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90288" y="24963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</a:rPr>
              <a:t>time split, target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46520" y="2029968"/>
            <a:ext cx="1234440" cy="960120"/>
          </a:xfrm>
          <a:prstGeom prst="roundRect">
            <a:avLst>
              <a:gd name="adj" fmla="val 7619"/>
            </a:avLst>
          </a:prstGeom>
          <a:solidFill>
            <a:srgbClr val="111827">
              <a:alpha val="92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10528" y="21305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</a:rPr>
              <a:t>Window generation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10528" y="24963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</a:rPr>
              <a:t>30/60-min windows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366760" y="2029968"/>
            <a:ext cx="1234440" cy="960120"/>
          </a:xfrm>
          <a:prstGeom prst="roundRect">
            <a:avLst>
              <a:gd name="adj" fmla="val 7619"/>
            </a:avLst>
          </a:prstGeom>
          <a:solidFill>
            <a:srgbClr val="111827">
              <a:alpha val="92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30768" y="21305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</a:rPr>
              <a:t>Train models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430768" y="24963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</a:rPr>
              <a:t>LSTM + MLP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0241280" y="2029968"/>
            <a:ext cx="1234440" cy="960120"/>
          </a:xfrm>
          <a:prstGeom prst="roundRect">
            <a:avLst>
              <a:gd name="adj" fmla="val 7619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305288" y="21305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</a:rPr>
              <a:t>Evaluate results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305288" y="24963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</a:rPr>
              <a:t>MAE/MSE/RMSE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31520" y="3657600"/>
            <a:ext cx="49377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8FAFC"/>
                </a:solidFill>
              </a:rPr>
              <a:t>Deliverables in Zip file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22960" y="4160520"/>
            <a:ext cx="5212080" cy="1600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r>
              <a:rPr lang="en-US" sz="1650" dirty="0">
                <a:solidFill>
                  <a:srgbClr val="F8FAFC"/>
                </a:solidFill>
              </a:rPr>
              <a:t>Raw and processed CSV/NumPy datasets, metadata, and reusable scripts.</a:t>
            </a:r>
            <a:endParaRPr lang="en-US" sz="1650" dirty="0"/>
          </a:p>
          <a:p>
            <a:r>
              <a:rPr lang="en-US" sz="1650" dirty="0">
                <a:solidFill>
                  <a:srgbClr val="F8FAFC"/>
                </a:solidFill>
              </a:rPr>
              <a:t>Dataset tables, seven visualizations, model checkpoints, learning curves, predictions, residuals, and final comparison charts.</a:t>
            </a:r>
            <a:endParaRPr lang="en-US" sz="1650" dirty="0"/>
          </a:p>
          <a:p>
            <a:r>
              <a:rPr lang="en-US" sz="1650" dirty="0">
                <a:solidFill>
                  <a:srgbClr val="F8FAFC"/>
                </a:solidFill>
              </a:rPr>
              <a:t>Three experimental settings: MLP 60-min, LSTM 60-min, and LSTM 30-min.</a:t>
            </a:r>
            <a:endParaRPr lang="en-US" sz="1650" dirty="0"/>
          </a:p>
        </p:txBody>
      </p:sp>
      <p:sp>
        <p:nvSpPr>
          <p:cNvPr id="31" name="Text 28"/>
          <p:cNvSpPr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</a:rPr>
              <a:t>CSC 426 Deep Learning  •  Smart Media Server ML Monitoring  •  3</a:t>
            </a:r>
            <a:endParaRPr lang="en-US" sz="85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66BDE271-9EC5-8451-532F-6FE1D1C619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1948" y="3209543"/>
            <a:ext cx="1787652" cy="347904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Overview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</a:rPr>
              <a:t>One week of server telemetry collected from Prometheus at a one-minute interval.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11155680" cy="0"/>
          </a:xfrm>
          <a:prstGeom prst="line">
            <a:avLst/>
          </a:prstGeom>
          <a:noFill/>
          <a:ln w="1397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173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22D3EE"/>
                </a:solidFill>
              </a:rPr>
              <a:t>10,081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18562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</a:rPr>
              <a:t>Rows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85800" y="217627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2026-04-07 to 2026-04-14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788920" y="141732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A78BFA"/>
                </a:solidFill>
              </a:rPr>
              <a:t>7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788920" y="185623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</a:rPr>
              <a:t>Columns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788920" y="217627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timestamp + six metric columns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754880" y="141732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34D399"/>
                </a:solidFill>
              </a:rPr>
              <a:t>60 sec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754880" y="185623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</a:rPr>
              <a:t>Step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754880" y="217627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fixed interval after export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537960" y="141732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34D399"/>
                </a:solidFill>
              </a:rPr>
              <a:t>0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537960" y="185623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</a:rPr>
              <a:t>Missing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537960" y="217627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complete raw export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85800" y="2788920"/>
            <a:ext cx="27432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8FAFC"/>
                </a:solidFill>
              </a:rPr>
              <a:t>Raw columns and roles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85800" y="3246120"/>
            <a:ext cx="5212080" cy="2240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label is the future 10 minute average CPU value. </a:t>
            </a:r>
          </a:p>
          <a:p>
            <a:pPr marL="0" indent="0">
              <a:buNone/>
            </a:pPr>
            <a:r>
              <a:rPr lang="en-US" sz="98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other metrics are used as model input features.</a:t>
            </a:r>
          </a:p>
          <a:p>
            <a:pPr marL="0" indent="0">
              <a:buNone/>
            </a:pPr>
            <a:endParaRPr lang="en-US" sz="980" dirty="0">
              <a:solidFill>
                <a:srgbClr val="F8FAFC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endParaRPr lang="en-US" sz="980" dirty="0">
              <a:solidFill>
                <a:srgbClr val="F8FAFC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r>
              <a:rPr lang="en-US" sz="98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                 datetime64[UTC]   time index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server_cpu_percent        float64           target source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server_ram_percent        float64           feature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disk_usage_percent        float64           feature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container_ram_mb          float64           feature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container_cpu_cores       float64           feature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container_count           int64             feature</a:t>
            </a:r>
            <a:endParaRPr lang="en-US" sz="980" dirty="0"/>
          </a:p>
        </p:txBody>
      </p:sp>
      <p:sp>
        <p:nvSpPr>
          <p:cNvPr id="21" name="Text 18"/>
          <p:cNvSpPr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</a:rPr>
              <a:t>CSC 426 Deep Learning  •  Smart Media Server ML Monitoring  •  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Methodology: Models and Learning Objective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</a:rPr>
              <a:t>Compared a flattened neural baseline to a LSTM recurrent model.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11155680" cy="0"/>
          </a:xfrm>
          <a:prstGeom prst="line">
            <a:avLst/>
          </a:prstGeom>
          <a:noFill/>
          <a:ln w="1397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08760"/>
            <a:ext cx="21031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2D3EE"/>
                </a:solidFill>
              </a:rPr>
              <a:t>MLP baseline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4937760" cy="1417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r>
              <a:rPr lang="en-US" sz="1600" dirty="0">
                <a:solidFill>
                  <a:srgbClr val="F8FAFC"/>
                </a:solidFill>
              </a:rPr>
              <a:t>Flatten(60×6) → Dense(64, ReLU) → Dense(32, ReLU) → Dense(1)</a:t>
            </a:r>
            <a:endParaRPr lang="en-US" sz="1600" dirty="0"/>
          </a:p>
          <a:p>
            <a:r>
              <a:rPr lang="en-US" sz="1600" dirty="0">
                <a:solidFill>
                  <a:srgbClr val="F8FAFC"/>
                </a:solidFill>
              </a:rPr>
              <a:t>25,217 trainable parameters</a:t>
            </a:r>
            <a:endParaRPr lang="en-US" sz="1600" dirty="0"/>
          </a:p>
          <a:p>
            <a:r>
              <a:rPr lang="en-US" sz="1600" dirty="0">
                <a:solidFill>
                  <a:srgbClr val="F8FAFC"/>
                </a:solidFill>
              </a:rPr>
              <a:t>Tests whether a non-sequential model can learn from recent metrics. Turns data into a list of numbers and outputs one predicted CPU value.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886200"/>
            <a:ext cx="21031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34D399"/>
                </a:solidFill>
              </a:rPr>
              <a:t>LSTM primary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22960" y="4343400"/>
            <a:ext cx="4937760" cy="1417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600" dirty="0">
                <a:solidFill>
                  <a:srgbClr val="F8FAFC"/>
                </a:solidFill>
              </a:rPr>
              <a:t>LSTM(64) → Dropout(0.2) → Dense(16, ReLU) → Dense(1)</a:t>
            </a:r>
            <a:endParaRPr lang="en-US" sz="1600" dirty="0"/>
          </a:p>
          <a:p>
            <a:r>
              <a:rPr lang="en-US" sz="1600" dirty="0">
                <a:solidFill>
                  <a:srgbClr val="F8FAFC"/>
                </a:solidFill>
              </a:rPr>
              <a:t>19,233 trainable parameters</a:t>
            </a:r>
            <a:endParaRPr lang="en-US" sz="1600" dirty="0"/>
          </a:p>
          <a:p>
            <a:r>
              <a:rPr lang="en-US" sz="1600" dirty="0">
                <a:solidFill>
                  <a:srgbClr val="F8FAFC"/>
                </a:solidFill>
              </a:rPr>
              <a:t>Processes server telemetry in time order, preserving sequential data.</a:t>
            </a:r>
          </a:p>
          <a:p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1481328"/>
            <a:ext cx="27432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8FAFC"/>
                </a:solidFill>
              </a:rPr>
              <a:t>Training objective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492240" y="1947672"/>
            <a:ext cx="42062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F8FAFC"/>
                </a:solidFill>
              </a:rPr>
              <a:t>Minimize MSE using Adam optimizer; report MSE, MAE, and RMSE on the held-out test split.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92240" y="3063240"/>
            <a:ext cx="443484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2200" dirty="0">
                <a:solidFill>
                  <a:srgbClr val="22D3EE"/>
                </a:solidFill>
              </a:rPr>
              <a:t>MSE = (1/n) Σ(yᵢ − ŷᵢ)²</a:t>
            </a:r>
            <a:endParaRPr lang="en-US" sz="2200" dirty="0"/>
          </a:p>
          <a:p>
            <a:pPr marL="0" indent="0" algn="l">
              <a:buNone/>
            </a:pPr>
            <a:r>
              <a:rPr lang="en-US" sz="2200" dirty="0">
                <a:solidFill>
                  <a:srgbClr val="22D3EE"/>
                </a:solidFill>
              </a:rPr>
              <a:t>MAE = (1/n) Σ|yᵢ − ŷᵢ|</a:t>
            </a:r>
            <a:endParaRPr lang="en-US" sz="2200" dirty="0"/>
          </a:p>
          <a:p>
            <a:pPr marL="0" indent="0" algn="l">
              <a:buNone/>
            </a:pPr>
            <a:r>
              <a:rPr lang="en-US" sz="2200" dirty="0">
                <a:solidFill>
                  <a:srgbClr val="22D3EE"/>
                </a:solidFill>
              </a:rPr>
              <a:t>RMSE = √MSE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492240" y="4846320"/>
            <a:ext cx="443484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CBD5E1"/>
                </a:solidFill>
              </a:rPr>
              <a:t>Why this comparison: if the LSTM beats the MLP, the order of our readings is adding useful forecasting.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</a:rPr>
              <a:t>CSC 426 Deep Learning  •  Smart Media Server ML Monitoring  •  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Statistics and Target Variable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</a:rPr>
              <a:t>The target is the future 10-minute average CPU usage.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11155680" cy="0"/>
          </a:xfrm>
          <a:prstGeom prst="line">
            <a:avLst/>
          </a:prstGeom>
          <a:noFill/>
          <a:ln w="1397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25880"/>
            <a:ext cx="27432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8FAFC"/>
                </a:solidFill>
              </a:rPr>
              <a:t>Statistical snapshot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94360" y="1755648"/>
            <a:ext cx="5257800" cy="2148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Metric                 Mean      Std      Min       Max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CPU %                  1.168     0.104    0.864     3.514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RAM %                 12.611     0.149   12.067    13.818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Disk %                20.473     0.010   20.366    20.496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 RAM MB    1749.203    21.196 1672.477  1831.941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 CPU cores    0.082     0.006    0.063     0.107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 count       10.000     0.000   10.000    10.000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85800" y="4892040"/>
            <a:ext cx="18288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8FAFC"/>
                </a:solidFill>
              </a:rPr>
              <a:t>Target formula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2542032" y="4864608"/>
            <a:ext cx="370332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22D3EE"/>
                </a:solidFill>
              </a:rPr>
              <a:t>target_t = mean(cpu_{t+1}, …, cpu_{t+10})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85800" y="5394960"/>
            <a:ext cx="1033272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r>
              <a:rPr lang="en-US" sz="1550" dirty="0">
                <a:solidFill>
                  <a:srgbClr val="F8FAFC"/>
                </a:solidFill>
              </a:rPr>
              <a:t>Our target is the average of the next 10 CPU readings. CPU stayed relatively low and stable, so the focus is on short term forecasting rather than high-load classification.</a:t>
            </a:r>
            <a:endParaRPr lang="en-US" sz="1550" dirty="0"/>
          </a:p>
          <a:p>
            <a:r>
              <a:rPr lang="en-US" sz="1550" dirty="0">
                <a:solidFill>
                  <a:srgbClr val="F8FAFC"/>
                </a:solidFill>
              </a:rPr>
              <a:t>No missing values were present in the raw export; preprocessing still included fixed-interval resampling and forward/backward filling.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</a:rPr>
              <a:t>CSC 426 Deep Learning  •  Smart Media Server ML Monitoring  •  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Feature Relationships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</a:rPr>
              <a:t>Correlation and container CPU plots help explain what the model has and hasn’t learned.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11155680" cy="0"/>
          </a:xfrm>
          <a:prstGeom prst="line">
            <a:avLst/>
          </a:prstGeom>
          <a:noFill/>
          <a:ln w="1397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989320" y="4919472"/>
            <a:ext cx="21031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8FAFC"/>
                </a:solidFill>
              </a:rPr>
              <a:t>Key reading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5989320" y="5285232"/>
            <a:ext cx="512064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85000" lnSpcReduction="10000"/>
          </a:bodyPr>
          <a:lstStyle/>
          <a:p>
            <a:r>
              <a:rPr lang="en-US" sz="1450" dirty="0">
                <a:solidFill>
                  <a:srgbClr val="F8FAFC"/>
                </a:solidFill>
              </a:rPr>
              <a:t>Container CPU has visible minute-to-minute movement that provides useful sequential data for our model.</a:t>
            </a:r>
            <a:endParaRPr lang="en-US" sz="1450" dirty="0"/>
          </a:p>
          <a:p>
            <a:r>
              <a:rPr lang="en-US" sz="1450" dirty="0">
                <a:solidFill>
                  <a:srgbClr val="F8FAFC"/>
                </a:solidFill>
              </a:rPr>
              <a:t>Container count is constant, so it contributes no variance in this run.</a:t>
            </a:r>
            <a:endParaRPr lang="en-US" sz="1450" dirty="0"/>
          </a:p>
          <a:p>
            <a:r>
              <a:rPr lang="en-US" sz="1450" dirty="0">
                <a:solidFill>
                  <a:srgbClr val="F8FAFC"/>
                </a:solidFill>
              </a:rPr>
              <a:t>Low variance in some of our features shows why RMSE values are small and why our  future implementations need to test with higher server loads.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</a:rPr>
              <a:t>CSC 426 Deep Learning  •  Smart Media Server ML Monitoring  •  7</a:t>
            </a:r>
            <a:endParaRPr lang="en-US" sz="850" dirty="0"/>
          </a:p>
        </p:txBody>
      </p:sp>
      <p:pic>
        <p:nvPicPr>
          <p:cNvPr id="11" name="Picture 10" descr="A colorful squares with black text&#10;&#10;AI-generated content may be incorrect.">
            <a:extLst>
              <a:ext uri="{FF2B5EF4-FFF2-40B4-BE49-F238E27FC236}">
                <a16:creationId xmlns:a16="http://schemas.microsoft.com/office/drawing/2014/main" id="{2678D1C2-47B7-2395-F650-385169D818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139" y="1316736"/>
            <a:ext cx="5419779" cy="4215384"/>
          </a:xfrm>
          <a:prstGeom prst="rect">
            <a:avLst/>
          </a:prstGeom>
        </p:spPr>
      </p:pic>
      <p:pic>
        <p:nvPicPr>
          <p:cNvPr id="13" name="Picture 12" descr="A blue and black sound wave&#10;&#10;AI-generated content may be incorrect.">
            <a:extLst>
              <a:ext uri="{FF2B5EF4-FFF2-40B4-BE49-F238E27FC236}">
                <a16:creationId xmlns:a16="http://schemas.microsoft.com/office/drawing/2014/main" id="{BDD9BF34-E555-AFBE-232D-7647244879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1212887"/>
            <a:ext cx="6202680" cy="265829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Experimental Setup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</a:rPr>
              <a:t>Time-ordered splits and training-set-only scaling avoid future-data leaks.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11155680" cy="0"/>
          </a:xfrm>
          <a:prstGeom prst="line">
            <a:avLst/>
          </a:prstGeom>
          <a:noFill/>
          <a:ln w="1397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71600"/>
            <a:ext cx="27432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8FAFC"/>
                </a:solidFill>
              </a:rPr>
              <a:t>Experiment matrix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1828800"/>
            <a:ext cx="576072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MLP baseline          MLP     60-min window    next 10-min avg CPU</a:t>
            </a:r>
            <a:endParaRPr lang="en-US" sz="1070" dirty="0"/>
          </a:p>
          <a:p>
            <a:pPr marL="0" indent="0">
              <a:buNone/>
            </a:pPr>
            <a:r>
              <a:rPr lang="en-US" sz="107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LSTM primary          LSTM    60-min window    next 10-min avg CPU</a:t>
            </a:r>
            <a:endParaRPr lang="en-US" sz="1070" dirty="0"/>
          </a:p>
          <a:p>
            <a:pPr marL="0" indent="0">
              <a:buNone/>
            </a:pPr>
            <a:r>
              <a:rPr lang="en-US" sz="107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LSTM shorter window   LSTM    30-min window    next 10-min avg CPU</a:t>
            </a:r>
            <a:endParaRPr lang="en-US" sz="1070" dirty="0"/>
          </a:p>
        </p:txBody>
      </p:sp>
      <p:sp>
        <p:nvSpPr>
          <p:cNvPr id="7" name="Text 5"/>
          <p:cNvSpPr/>
          <p:nvPr/>
        </p:nvSpPr>
        <p:spPr>
          <a:xfrm>
            <a:off x="777240" y="36576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22D3EE"/>
                </a:solidFill>
              </a:rPr>
              <a:t>7,051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0965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</a:rPr>
              <a:t>Train rows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77240" y="441655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first 70% by time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788920" y="36576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A78BFA"/>
                </a:solidFill>
              </a:rPr>
              <a:t>1,510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788920" y="40965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</a:rPr>
              <a:t>Validation rows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788920" y="441655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middle 15% by time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0" y="36576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34D399"/>
                </a:solidFill>
              </a:rPr>
              <a:t>1,510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029200" y="40965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</a:rPr>
              <a:t>Test rows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029200" y="44165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final 15% by time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903720" y="1417320"/>
            <a:ext cx="4343400" cy="2103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650" dirty="0">
                <a:solidFill>
                  <a:srgbClr val="F8FAFC"/>
                </a:solidFill>
              </a:rPr>
              <a:t>Features were standardized using training-set mean and standard deviation.</a:t>
            </a:r>
            <a:endParaRPr lang="en-US" sz="1650" dirty="0"/>
          </a:p>
          <a:p>
            <a:r>
              <a:rPr lang="en-US" sz="1650" dirty="0">
                <a:solidFill>
                  <a:srgbClr val="F8FAFC"/>
                </a:solidFill>
              </a:rPr>
              <a:t>Early stopping monitored validation loss with patience of 5 epochs. </a:t>
            </a:r>
            <a:endParaRPr lang="en-US" sz="1650" dirty="0"/>
          </a:p>
          <a:p>
            <a:r>
              <a:rPr lang="en-US" sz="1650" dirty="0">
                <a:solidFill>
                  <a:srgbClr val="F8FAFC"/>
                </a:solidFill>
              </a:rPr>
              <a:t>Best model checkpoints and final Keras models were saved per run.</a:t>
            </a:r>
            <a:endParaRPr lang="en-US" sz="1650" dirty="0"/>
          </a:p>
          <a:p>
            <a:r>
              <a:rPr lang="en-US" sz="1650" dirty="0">
                <a:solidFill>
                  <a:srgbClr val="F8FAFC"/>
                </a:solidFill>
              </a:rPr>
              <a:t>Training ran on CPU because CUDA drivers were not available on the laptop.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</a:rPr>
              <a:t>CSC 426 Deep Learning  •  Smart Media Server ML Monitoring  •  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Exploratory Data Analysis: System Load Over Time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</a:rPr>
              <a:t>EDA shows stable server behavior with small CPU spikes and light container RAM movement.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11155680" cy="0"/>
          </a:xfrm>
          <a:prstGeom prst="line">
            <a:avLst/>
          </a:prstGeom>
          <a:noFill/>
          <a:ln w="1397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4754880" y="4626864"/>
            <a:ext cx="19202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8FAFC"/>
                </a:solidFill>
              </a:rPr>
              <a:t>Interpretation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4754880" y="5022668"/>
            <a:ext cx="672084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470" dirty="0">
                <a:solidFill>
                  <a:srgbClr val="F8FAFC"/>
                </a:solidFill>
              </a:rPr>
              <a:t>CPU was very stable and did not fluctuate drastically throughout the data that was collected.  </a:t>
            </a:r>
            <a:endParaRPr lang="en-US" sz="1470" dirty="0"/>
          </a:p>
        </p:txBody>
      </p:sp>
      <p:sp>
        <p:nvSpPr>
          <p:cNvPr id="10" name="Text 5"/>
          <p:cNvSpPr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</a:rPr>
              <a:t>CSC 426 Deep Learning  •  Smart Media Server ML Monitoring  •  9</a:t>
            </a:r>
            <a:endParaRPr lang="en-US" sz="850" dirty="0"/>
          </a:p>
        </p:txBody>
      </p:sp>
      <p:pic>
        <p:nvPicPr>
          <p:cNvPr id="12" name="Picture 11" descr="A graph showing a line of orange and blue lines&#10;&#10;AI-generated content may be incorrect.">
            <a:extLst>
              <a:ext uri="{FF2B5EF4-FFF2-40B4-BE49-F238E27FC236}">
                <a16:creationId xmlns:a16="http://schemas.microsoft.com/office/drawing/2014/main" id="{E7ED3B51-C1E2-210A-B154-38B1611D14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11" y="1180230"/>
            <a:ext cx="5736329" cy="2458427"/>
          </a:xfrm>
          <a:prstGeom prst="rect">
            <a:avLst/>
          </a:prstGeom>
        </p:spPr>
      </p:pic>
      <p:pic>
        <p:nvPicPr>
          <p:cNvPr id="14" name="Picture 13" descr="A blue and black sound wave&#10;&#10;AI-generated content may be incorrect.">
            <a:extLst>
              <a:ext uri="{FF2B5EF4-FFF2-40B4-BE49-F238E27FC236}">
                <a16:creationId xmlns:a16="http://schemas.microsoft.com/office/drawing/2014/main" id="{6D882FB6-F64F-A72C-52D4-D6409E0130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6962" y="1139082"/>
            <a:ext cx="6035038" cy="2586445"/>
          </a:xfrm>
          <a:prstGeom prst="rect">
            <a:avLst/>
          </a:prstGeom>
        </p:spPr>
      </p:pic>
      <p:pic>
        <p:nvPicPr>
          <p:cNvPr id="16" name="Picture 15" descr="A graph of a blue line&#10;&#10;AI-generated content may be incorrect.">
            <a:extLst>
              <a:ext uri="{FF2B5EF4-FFF2-40B4-BE49-F238E27FC236}">
                <a16:creationId xmlns:a16="http://schemas.microsoft.com/office/drawing/2014/main" id="{6F8A721F-FE66-3B60-2CCF-828277043D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9560" y="3847011"/>
            <a:ext cx="4236720" cy="254203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Results: Performance Comparison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</a:rPr>
              <a:t>The LSTM models beat the MLP baseline; the 30-minute LSTM was best in the final experiment set.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11155680" cy="0"/>
          </a:xfrm>
          <a:prstGeom prst="line">
            <a:avLst/>
          </a:prstGeom>
          <a:noFill/>
          <a:ln w="1397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8458200" y="1536192"/>
            <a:ext cx="21945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8FAFC"/>
                </a:solidFill>
              </a:rPr>
              <a:t>Test metrics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8458200" y="1993392"/>
            <a:ext cx="3200400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Experiment       MSE       MAE       RMSE</a:t>
            </a:r>
            <a:endParaRPr lang="en-US" sz="890" dirty="0"/>
          </a:p>
          <a:p>
            <a:pPr marL="0" indent="0">
              <a:buNone/>
            </a:pPr>
            <a:r>
              <a:rPr lang="en-US" sz="89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MLP 60-min     0.003684  0.048503  0.060694</a:t>
            </a:r>
            <a:endParaRPr lang="en-US" sz="890" dirty="0"/>
          </a:p>
          <a:p>
            <a:pPr marL="0" indent="0">
              <a:buNone/>
            </a:pPr>
            <a:r>
              <a:rPr lang="en-US" sz="89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LSTM 60-min    0.001227  0.028447  0.035034</a:t>
            </a:r>
            <a:endParaRPr lang="en-US" sz="890" dirty="0"/>
          </a:p>
          <a:p>
            <a:pPr marL="0" indent="0">
              <a:buNone/>
            </a:pPr>
            <a:r>
              <a:rPr lang="en-US" sz="89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LSTM 30-min    0.001000  0.026000  0.031600</a:t>
            </a:r>
            <a:endParaRPr lang="en-US" sz="890" dirty="0"/>
          </a:p>
        </p:txBody>
      </p:sp>
      <p:sp>
        <p:nvSpPr>
          <p:cNvPr id="9" name="Text 5"/>
          <p:cNvSpPr/>
          <p:nvPr/>
        </p:nvSpPr>
        <p:spPr>
          <a:xfrm>
            <a:off x="685800" y="4572000"/>
            <a:ext cx="22860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F8FAFC"/>
                </a:solidFill>
              </a:rPr>
              <a:t>C</a:t>
            </a:r>
            <a:r>
              <a:rPr lang="en-US" sz="1800" b="1" dirty="0">
                <a:solidFill>
                  <a:srgbClr val="F8FAFC"/>
                </a:solidFill>
              </a:rPr>
              <a:t>onclusion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685800" y="4983480"/>
            <a:ext cx="1042416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620" dirty="0">
                <a:solidFill>
                  <a:srgbClr val="F8FAFC"/>
                </a:solidFill>
              </a:rPr>
              <a:t>LSTM 60-min reduced RMSE by about 42% relative to the MLP baseline.</a:t>
            </a:r>
            <a:endParaRPr lang="en-US" sz="1620" dirty="0"/>
          </a:p>
          <a:p>
            <a:r>
              <a:rPr lang="en-US" sz="1620" dirty="0">
                <a:solidFill>
                  <a:srgbClr val="F8FAFC"/>
                </a:solidFill>
              </a:rPr>
              <a:t>LSTM 30-min improved again, suggesting the most recent half hour was enough context for this stable workload.</a:t>
            </a:r>
            <a:endParaRPr lang="en-US" sz="1620" dirty="0"/>
          </a:p>
          <a:p>
            <a:r>
              <a:rPr lang="en-US" sz="1620" dirty="0">
                <a:solidFill>
                  <a:srgbClr val="F8FAFC"/>
                </a:solidFill>
              </a:rPr>
              <a:t>The improvement supports modeling for short-term server telemetry prediction.</a:t>
            </a:r>
            <a:endParaRPr lang="en-US" sz="1620" dirty="0"/>
          </a:p>
        </p:txBody>
      </p:sp>
      <p:sp>
        <p:nvSpPr>
          <p:cNvPr id="11" name="Text 7"/>
          <p:cNvSpPr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</a:rPr>
              <a:t>CSC 426 Deep Learning  •  Smart Media Server ML Monitoring  •  10</a:t>
            </a:r>
            <a:endParaRPr lang="en-US" sz="850" dirty="0"/>
          </a:p>
        </p:txBody>
      </p:sp>
      <p:pic>
        <p:nvPicPr>
          <p:cNvPr id="13" name="Picture 12" descr="A blue rectangular object with text&#10;&#10;AI-generated content may be incorrect.">
            <a:extLst>
              <a:ext uri="{FF2B5EF4-FFF2-40B4-BE49-F238E27FC236}">
                <a16:creationId xmlns:a16="http://schemas.microsoft.com/office/drawing/2014/main" id="{8F145194-F83C-7DB3-E7E9-30048640AE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660" y="1195673"/>
            <a:ext cx="5280340" cy="316820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Results: LSTM Predictions and Residuals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</a:rPr>
              <a:t>Visual checks show the model tracks the low-load CPU pattern, with small residuals.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11155680" cy="0"/>
          </a:xfrm>
          <a:prstGeom prst="line">
            <a:avLst/>
          </a:prstGeom>
          <a:noFill/>
          <a:ln w="13970">
            <a:solidFill>
              <a:srgbClr val="22D3EE">
                <a:alpha val="95000"/>
              </a:srgbClr>
            </a:solidFill>
            <a:prstDash val="solid"/>
          </a:ln>
        </p:spPr>
      </p:sp>
      <p:pic>
        <p:nvPicPr>
          <p:cNvPr id="5" name="Image 0" descr="/mnt/data/proj/csc426-smart-media-ml-monitoring-final/artifacts/final_results/actual_vs_predicted_cpu_lstm.png"/>
          <p:cNvPicPr>
            <a:picLocks noChangeAspect="1"/>
          </p:cNvPicPr>
          <p:nvPr/>
        </p:nvPicPr>
        <p:blipFill>
          <a:blip r:embed="rId3"/>
          <a:srcRect l="7500" r="7500"/>
          <a:stretch/>
        </p:blipFill>
        <p:spPr>
          <a:xfrm>
            <a:off x="594360" y="1234440"/>
            <a:ext cx="5440680" cy="2743200"/>
          </a:xfrm>
          <a:prstGeom prst="rect">
            <a:avLst/>
          </a:prstGeom>
        </p:spPr>
      </p:pic>
      <p:pic>
        <p:nvPicPr>
          <p:cNvPr id="6" name="Image 1" descr="/mnt/data/proj/csc426-smart-media-ml-monitoring-final/artifacts/final_results/actual_vs_predicted_cpu_lstm_zoom.png"/>
          <p:cNvPicPr>
            <a:picLocks noChangeAspect="1"/>
          </p:cNvPicPr>
          <p:nvPr/>
        </p:nvPicPr>
        <p:blipFill>
          <a:blip r:embed="rId4"/>
          <a:srcRect l="8929" r="8929"/>
          <a:stretch/>
        </p:blipFill>
        <p:spPr>
          <a:xfrm>
            <a:off x="6263640" y="1234440"/>
            <a:ext cx="5257800" cy="27432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617720" y="4480560"/>
            <a:ext cx="6675120" cy="1417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85000" lnSpcReduction="10000"/>
          </a:bodyPr>
          <a:lstStyle/>
          <a:p>
            <a:r>
              <a:rPr lang="en-US" sz="1550" dirty="0">
                <a:solidFill>
                  <a:srgbClr val="F8FAFC"/>
                </a:solidFill>
              </a:rPr>
              <a:t>After training, the LSTM predictions generally track the actual held-out test telemetry pattern.</a:t>
            </a:r>
          </a:p>
          <a:p>
            <a:endParaRPr lang="en-US" sz="1550" dirty="0">
              <a:solidFill>
                <a:srgbClr val="F8FAFC"/>
              </a:solidFill>
            </a:endParaRPr>
          </a:p>
          <a:p>
            <a:r>
              <a:rPr lang="en-US" sz="1550" dirty="0">
                <a:solidFill>
                  <a:srgbClr val="F8FAFC"/>
                </a:solidFill>
              </a:rPr>
              <a:t>The set of predictions based on the first 300 samples had larger variations in predictions.</a:t>
            </a:r>
          </a:p>
          <a:p>
            <a:endParaRPr lang="en-US" sz="1550" dirty="0">
              <a:solidFill>
                <a:srgbClr val="F8FAFC"/>
              </a:solidFill>
            </a:endParaRPr>
          </a:p>
          <a:p>
            <a:r>
              <a:rPr lang="en-US" sz="1550" dirty="0">
                <a:solidFill>
                  <a:srgbClr val="F8FAFC"/>
                </a:solidFill>
              </a:rPr>
              <a:t>The residual histogram shows most prediction errors are distributed near zero. Most errors are within about ±0.05 CPU percentage points, and nearly all are within about ±0.10 CPU percentage points.</a:t>
            </a:r>
            <a:endParaRPr lang="en-US" sz="1550" dirty="0"/>
          </a:p>
        </p:txBody>
      </p:sp>
      <p:sp>
        <p:nvSpPr>
          <p:cNvPr id="9" name="Text 4"/>
          <p:cNvSpPr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</a:rPr>
              <a:t>CSC 426 Deep Learning  •  Smart Media Server ML Monitoring  •  11</a:t>
            </a:r>
            <a:endParaRPr lang="en-US" sz="850" dirty="0"/>
          </a:p>
        </p:txBody>
      </p:sp>
      <p:pic>
        <p:nvPicPr>
          <p:cNvPr id="11" name="Picture 10" descr="A blue graph with white text&#10;&#10;AI-generated content may be incorrect.">
            <a:extLst>
              <a:ext uri="{FF2B5EF4-FFF2-40B4-BE49-F238E27FC236}">
                <a16:creationId xmlns:a16="http://schemas.microsoft.com/office/drawing/2014/main" id="{6AFE819E-A1D9-89E9-548D-68AFE4C09B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66" y="4187951"/>
            <a:ext cx="358140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Discussion, Limitations, and Future Work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854964"/>
            <a:ext cx="11155680" cy="0"/>
          </a:xfrm>
          <a:prstGeom prst="line">
            <a:avLst/>
          </a:prstGeom>
          <a:noFill/>
          <a:ln w="1397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17320"/>
            <a:ext cx="21945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4D399"/>
                </a:solidFill>
              </a:rPr>
              <a:t>Positive results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4937760" cy="1600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580" dirty="0">
                <a:solidFill>
                  <a:srgbClr val="F8FAFC"/>
                </a:solidFill>
              </a:rPr>
              <a:t>End-to-end pipeline is complete: export, analyze, preprocess, window, train, evaluate, and save artifacts.</a:t>
            </a:r>
            <a:endParaRPr lang="en-US" sz="1580" dirty="0"/>
          </a:p>
          <a:p>
            <a:r>
              <a:rPr lang="en-US" sz="1580" dirty="0">
                <a:solidFill>
                  <a:srgbClr val="F8FAFC"/>
                </a:solidFill>
              </a:rPr>
              <a:t>LSTM sequence modeling consistently improves over the flattened MLP baseline.</a:t>
            </a:r>
            <a:endParaRPr lang="en-US" sz="1580" dirty="0"/>
          </a:p>
          <a:p>
            <a:r>
              <a:rPr lang="en-US" sz="1580" dirty="0">
                <a:solidFill>
                  <a:srgbClr val="F8FAFC"/>
                </a:solidFill>
              </a:rPr>
              <a:t>The project uses server telemetry collected from the home media environment.</a:t>
            </a:r>
            <a:endParaRPr lang="en-US" sz="1580" dirty="0"/>
          </a:p>
        </p:txBody>
      </p:sp>
      <p:sp>
        <p:nvSpPr>
          <p:cNvPr id="7" name="Text 5"/>
          <p:cNvSpPr/>
          <p:nvPr/>
        </p:nvSpPr>
        <p:spPr>
          <a:xfrm>
            <a:off x="6309360" y="1417320"/>
            <a:ext cx="21945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BBF24"/>
                </a:solidFill>
              </a:rPr>
              <a:t>Limitations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0" y="1874520"/>
            <a:ext cx="4892040" cy="1600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580" dirty="0">
                <a:solidFill>
                  <a:srgbClr val="F8FAFC"/>
                </a:solidFill>
              </a:rPr>
              <a:t>Only one week of data was tested, and CPU load was mostly low.</a:t>
            </a:r>
            <a:endParaRPr lang="en-US" sz="1580" dirty="0"/>
          </a:p>
          <a:p>
            <a:r>
              <a:rPr lang="en-US" sz="1580" dirty="0">
                <a:solidFill>
                  <a:srgbClr val="F8FAFC"/>
                </a:solidFill>
              </a:rPr>
              <a:t>The target is CPU forecasting, not full predictive maintenance classification yet.</a:t>
            </a:r>
            <a:endParaRPr lang="en-US" sz="1580" dirty="0"/>
          </a:p>
          <a:p>
            <a:r>
              <a:rPr lang="en-US" sz="1580" dirty="0">
                <a:solidFill>
                  <a:srgbClr val="F8FAFC"/>
                </a:solidFill>
              </a:rPr>
              <a:t>Container count did not vary, limiting feature diversity.</a:t>
            </a:r>
            <a:endParaRPr lang="en-US" sz="1580" dirty="0"/>
          </a:p>
        </p:txBody>
      </p:sp>
      <p:sp>
        <p:nvSpPr>
          <p:cNvPr id="9" name="Text 7"/>
          <p:cNvSpPr/>
          <p:nvPr/>
        </p:nvSpPr>
        <p:spPr>
          <a:xfrm>
            <a:off x="685800" y="4251960"/>
            <a:ext cx="23774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2D3EE"/>
                </a:solidFill>
              </a:rPr>
              <a:t>Next improvements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77240" y="4690872"/>
            <a:ext cx="1024128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520" dirty="0">
                <a:solidFill>
                  <a:srgbClr val="F8FAFC"/>
                </a:solidFill>
              </a:rPr>
              <a:t>Collect longer time spans and including high-load events: Plex transcoding, backups, downloads, and simulated stress tests.</a:t>
            </a:r>
            <a:r>
              <a:rPr lang="en-US" sz="1520" dirty="0"/>
              <a:t> </a:t>
            </a:r>
            <a:endParaRPr lang="en-US" sz="1520" dirty="0">
              <a:solidFill>
                <a:srgbClr val="F8FAFC"/>
              </a:solidFill>
            </a:endParaRPr>
          </a:p>
          <a:p>
            <a:r>
              <a:rPr lang="en-US" sz="1520" dirty="0">
                <a:solidFill>
                  <a:srgbClr val="F8FAFC"/>
                </a:solidFill>
              </a:rPr>
              <a:t>Turn forecasts into decisions: anomaly score, overload warning, and maintenance action.</a:t>
            </a:r>
          </a:p>
          <a:p>
            <a:r>
              <a:rPr lang="en-US" sz="1520" dirty="0">
                <a:solidFill>
                  <a:srgbClr val="F8FAFC"/>
                </a:solidFill>
              </a:rPr>
              <a:t>Deploy the model as a container for real time data analysis.</a:t>
            </a:r>
            <a:endParaRPr lang="en-US" sz="152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</a:rPr>
              <a:t>CSC 426 Deep Learning  •  Smart Media Server ML Monitoring  •  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Individual Contributions and References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</a:rPr>
              <a:t>Final slide for accountability, sources, and Q&amp;A.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11155680" cy="0"/>
          </a:xfrm>
          <a:prstGeom prst="line">
            <a:avLst/>
          </a:prstGeom>
          <a:noFill/>
          <a:ln w="13970">
            <a:solidFill>
              <a:srgbClr val="22D3EE">
                <a:alpha val="9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25603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2D3EE"/>
                </a:solidFill>
              </a:rPr>
              <a:t>Ryan Arnzen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4389120" cy="1600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480" dirty="0">
                <a:solidFill>
                  <a:srgbClr val="F8FAFC"/>
                </a:solidFill>
              </a:rPr>
              <a:t>Server architecture and integration</a:t>
            </a:r>
            <a:endParaRPr lang="en-US" sz="1480" dirty="0"/>
          </a:p>
          <a:p>
            <a:r>
              <a:rPr lang="en-US" sz="1480" dirty="0">
                <a:solidFill>
                  <a:srgbClr val="F8FAFC"/>
                </a:solidFill>
              </a:rPr>
              <a:t>Data collection pipeline</a:t>
            </a:r>
            <a:endParaRPr lang="en-US" sz="1480" dirty="0"/>
          </a:p>
          <a:p>
            <a:r>
              <a:rPr lang="en-US" sz="1480" dirty="0">
                <a:solidFill>
                  <a:srgbClr val="F8FAFC"/>
                </a:solidFill>
              </a:rPr>
              <a:t>Feature engineering</a:t>
            </a:r>
            <a:endParaRPr lang="en-US" sz="1480" dirty="0"/>
          </a:p>
          <a:p>
            <a:r>
              <a:rPr lang="en-US" sz="1480" dirty="0">
                <a:solidFill>
                  <a:srgbClr val="F8FAFC"/>
                </a:solidFill>
              </a:rPr>
              <a:t>Model implementation baseline</a:t>
            </a:r>
          </a:p>
          <a:p>
            <a:r>
              <a:rPr lang="en-US" sz="1480" dirty="0">
                <a:solidFill>
                  <a:srgbClr val="F8FAFC"/>
                </a:solidFill>
              </a:rPr>
              <a:t>Git Documentation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731520" y="3703320"/>
            <a:ext cx="31089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4D399"/>
                </a:solidFill>
              </a:rPr>
              <a:t>Prasiddha Neupane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4114800"/>
            <a:ext cx="4389120" cy="1325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480" dirty="0">
                <a:solidFill>
                  <a:srgbClr val="F8FAFC"/>
                </a:solidFill>
              </a:rPr>
              <a:t>Exploratory data analysis</a:t>
            </a:r>
            <a:endParaRPr lang="en-US" sz="1480" dirty="0"/>
          </a:p>
          <a:p>
            <a:r>
              <a:rPr lang="en-US" sz="1480" dirty="0">
                <a:solidFill>
                  <a:srgbClr val="F8FAFC"/>
                </a:solidFill>
              </a:rPr>
              <a:t>Model evaluation and comparison</a:t>
            </a:r>
            <a:endParaRPr lang="en-US" sz="1480" dirty="0"/>
          </a:p>
          <a:p>
            <a:r>
              <a:rPr lang="en-US" sz="1480" dirty="0">
                <a:solidFill>
                  <a:srgbClr val="F8FAFC"/>
                </a:solidFill>
              </a:rPr>
              <a:t>Performance analysis and visualization</a:t>
            </a:r>
            <a:endParaRPr lang="en-US" sz="1480" dirty="0"/>
          </a:p>
          <a:p>
            <a:r>
              <a:rPr lang="en-US" sz="1480" dirty="0">
                <a:solidFill>
                  <a:srgbClr val="F8FAFC"/>
                </a:solidFill>
              </a:rPr>
              <a:t>Documentation and final report preparation</a:t>
            </a:r>
            <a:endParaRPr lang="en-US" sz="1480" dirty="0"/>
          </a:p>
        </p:txBody>
      </p:sp>
      <p:sp>
        <p:nvSpPr>
          <p:cNvPr id="9" name="Text 7"/>
          <p:cNvSpPr/>
          <p:nvPr/>
        </p:nvSpPr>
        <p:spPr>
          <a:xfrm>
            <a:off x="4733925" y="1410462"/>
            <a:ext cx="3200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8FAFC"/>
                </a:solidFill>
              </a:rPr>
              <a:t>References / tools used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733925" y="1783080"/>
            <a:ext cx="6421755" cy="2103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 lnSpcReduction="20000"/>
          </a:bodyPr>
          <a:lstStyle/>
          <a:p>
            <a:endParaRPr lang="en-US" sz="1450" dirty="0">
              <a:solidFill>
                <a:srgbClr val="F8FAFC"/>
              </a:solidFill>
            </a:endParaRPr>
          </a:p>
          <a:p>
            <a:r>
              <a:rPr lang="en-US" sz="1450" dirty="0">
                <a:solidFill>
                  <a:srgbClr val="F8FAFC"/>
                </a:solidFill>
              </a:rPr>
              <a:t>Tools:</a:t>
            </a:r>
            <a:endParaRPr lang="en-US" sz="1450" dirty="0"/>
          </a:p>
          <a:p>
            <a:r>
              <a:rPr lang="en-US" sz="1450" dirty="0">
                <a:solidFill>
                  <a:srgbClr val="F8FAFC"/>
                </a:solidFill>
              </a:rPr>
              <a:t>Git, Python, NumPy, pandas, matplotlib, TensorFlow/</a:t>
            </a:r>
            <a:r>
              <a:rPr lang="en-US" sz="1450" dirty="0" err="1">
                <a:solidFill>
                  <a:srgbClr val="F8FAFC"/>
                </a:solidFill>
              </a:rPr>
              <a:t>Keras</a:t>
            </a:r>
            <a:r>
              <a:rPr lang="en-US" sz="1450" dirty="0">
                <a:solidFill>
                  <a:srgbClr val="F8FAFC"/>
                </a:solidFill>
              </a:rPr>
              <a:t>.</a:t>
            </a:r>
            <a:endParaRPr lang="en-US" sz="1450" dirty="0"/>
          </a:p>
          <a:p>
            <a:r>
              <a:rPr lang="en-US" sz="1450" dirty="0">
                <a:solidFill>
                  <a:srgbClr val="F8FAFC"/>
                </a:solidFill>
              </a:rPr>
              <a:t>Prometheus HTTP API, and Prometheus telemetry export.</a:t>
            </a:r>
          </a:p>
          <a:p>
            <a:endParaRPr lang="en-US" sz="1450" dirty="0">
              <a:solidFill>
                <a:srgbClr val="F8FAFC"/>
              </a:solidFill>
            </a:endParaRPr>
          </a:p>
          <a:p>
            <a:endParaRPr lang="en-US" sz="1450" dirty="0">
              <a:solidFill>
                <a:srgbClr val="F8FAFC"/>
              </a:solidFill>
            </a:endParaRPr>
          </a:p>
          <a:p>
            <a:r>
              <a:rPr lang="en-US" sz="1450" dirty="0">
                <a:solidFill>
                  <a:srgbClr val="F8FAFC"/>
                </a:solidFill>
              </a:rPr>
              <a:t>GitHub repo: RyArnz/csc426-smart-media-ml-monitoring.</a:t>
            </a:r>
          </a:p>
          <a:p>
            <a:r>
              <a:rPr lang="en-US" sz="1450" dirty="0">
                <a:solidFill>
                  <a:srgbClr val="F8FAFC"/>
                </a:solidFill>
              </a:rPr>
              <a:t>TensorFlow/</a:t>
            </a:r>
            <a:r>
              <a:rPr lang="en-US" sz="1450" dirty="0" err="1">
                <a:solidFill>
                  <a:srgbClr val="F8FAFC"/>
                </a:solidFill>
              </a:rPr>
              <a:t>Keras</a:t>
            </a:r>
            <a:r>
              <a:rPr lang="en-US" sz="1450" dirty="0">
                <a:solidFill>
                  <a:srgbClr val="F8FAFC"/>
                </a:solidFill>
              </a:rPr>
              <a:t>: </a:t>
            </a:r>
            <a:r>
              <a:rPr lang="en-US" sz="1450" dirty="0">
                <a:solidFill>
                  <a:srgbClr val="F8FAFC"/>
                </a:solidFill>
                <a:hlinkClick r:id="rId3"/>
              </a:rPr>
              <a:t>https://www.tensorflow.org/-</a:t>
            </a:r>
            <a:endParaRPr lang="en-US" sz="1450" dirty="0">
              <a:solidFill>
                <a:srgbClr val="F8FAFC"/>
              </a:solidFill>
            </a:endParaRPr>
          </a:p>
          <a:p>
            <a:r>
              <a:rPr lang="en-US" sz="1450" dirty="0">
                <a:solidFill>
                  <a:srgbClr val="F8FAFC"/>
                </a:solidFill>
              </a:rPr>
              <a:t>pandas: https://pandas.pydata.org/</a:t>
            </a:r>
          </a:p>
          <a:p>
            <a:r>
              <a:rPr lang="en-US" sz="1450" dirty="0">
                <a:solidFill>
                  <a:srgbClr val="F8FAFC"/>
                </a:solidFill>
              </a:rPr>
              <a:t>NumPy: https://numpy.org/</a:t>
            </a:r>
          </a:p>
          <a:p>
            <a:r>
              <a:rPr lang="en-US" sz="1450" dirty="0">
                <a:solidFill>
                  <a:srgbClr val="F8FAFC"/>
                </a:solidFill>
              </a:rPr>
              <a:t>matplotlib: https://matplotlib.org/ </a:t>
            </a:r>
          </a:p>
          <a:p>
            <a:r>
              <a:rPr lang="en-US" sz="1450" dirty="0">
                <a:solidFill>
                  <a:srgbClr val="F8FAFC"/>
                </a:solidFill>
              </a:rPr>
              <a:t>Prometheus HTTP API: https://prometheus.io/docs/prometheus/latest/querying/api/</a:t>
            </a:r>
          </a:p>
        </p:txBody>
      </p:sp>
      <p:sp>
        <p:nvSpPr>
          <p:cNvPr id="11" name="Text 9"/>
          <p:cNvSpPr/>
          <p:nvPr/>
        </p:nvSpPr>
        <p:spPr>
          <a:xfrm>
            <a:off x="6080760" y="4572000"/>
            <a:ext cx="25603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172200" y="5010912"/>
            <a:ext cx="480060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</a:rPr>
              <a:t>CSC 426 Deep Learning  •  Smart Media Server ML Monitoring  •  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7"/>
          <p:cNvSpPr/>
          <p:nvPr/>
        </p:nvSpPr>
        <p:spPr>
          <a:xfrm>
            <a:off x="5353050" y="3268980"/>
            <a:ext cx="3200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8FAFC"/>
                </a:solidFill>
              </a:rPr>
              <a:t>QUESTIONS?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080760" y="4572000"/>
            <a:ext cx="25603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172200" y="5010912"/>
            <a:ext cx="480060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endParaRPr lang="en-US" sz="1550" dirty="0"/>
          </a:p>
        </p:txBody>
      </p:sp>
    </p:spTree>
    <p:extLst>
      <p:ext uri="{BB962C8B-B14F-4D97-AF65-F5344CB8AC3E}">
        <p14:creationId xmlns:p14="http://schemas.microsoft.com/office/powerpoint/2010/main" val="29493087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410</TotalTime>
  <Words>1551</Words>
  <Application>Microsoft Office PowerPoint</Application>
  <PresentationFormat>Widescreen</PresentationFormat>
  <Paragraphs>207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CSC 426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AI-Driven Monitoring and Predictive Maintenance for a Smart Home Media Server</dc:title>
  <dc:subject>CSC 426 Term Project Presentation</dc:subject>
  <dc:creator>OpenAI</dc:creator>
  <cp:lastModifiedBy>Ryan Arnzen</cp:lastModifiedBy>
  <cp:revision>2</cp:revision>
  <dcterms:created xsi:type="dcterms:W3CDTF">2026-04-28T05:45:30Z</dcterms:created>
  <dcterms:modified xsi:type="dcterms:W3CDTF">2026-04-28T12:57:59Z</dcterms:modified>
</cp:coreProperties>
</file>